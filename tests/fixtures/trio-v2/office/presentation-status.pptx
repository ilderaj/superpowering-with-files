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c9e9b33275416b" /><Relationship Type="http://schemas.openxmlformats.org/officeDocument/2006/relationships/extended-properties" Target="/docProps/app.xml" Id="Rb096c6fa344446e1" /><Relationship Type="http://schemas.openxmlformats.org/officeDocument/2006/relationships/officeDocument" Target="/ppt/presentation.xml" Id="R3650d61508be4b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1727bc4dc2456f"/>
  </p:sldMasterIdLst>
  <p:notesMasterIdLst>
    <p:notesMasterId xmlns:r="http://schemas.openxmlformats.org/officeDocument/2006/relationships" r:id="R764a40e42a5c4095"/>
  </p:notesMasterIdLst>
  <p:sldIdLst>
    <p:sldId xmlns:r="http://schemas.openxmlformats.org/officeDocument/2006/relationships" id="256" r:id="R6f8842ca72904556"/>
    <p:sldId xmlns:r="http://schemas.openxmlformats.org/officeDocument/2006/relationships" id="257" r:id="R8969ada20f5a4e53"/>
    <p:sldId xmlns:r="http://schemas.openxmlformats.org/officeDocument/2006/relationships" id="258" r:id="R2b2a8bdc237449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955068f064ce5" /><Relationship Type="http://schemas.openxmlformats.org/officeDocument/2006/relationships/slideMaster" Target="/ppt/slideMasters/slideMaster1.xml" Id="R661727bc4dc2456f" /><Relationship Type="http://schemas.openxmlformats.org/officeDocument/2006/relationships/notesMaster" Target="/ppt/notesMasters/notesMaster1.xml" Id="R764a40e42a5c4095" /><Relationship Type="http://schemas.openxmlformats.org/officeDocument/2006/relationships/presProps" Target="/ppt/presProps.xml" Id="Rea995d9076cc4898" /><Relationship Type="http://schemas.openxmlformats.org/officeDocument/2006/relationships/tableStyles" Target="/ppt/tableStyles.xml" Id="R176802852afd45c3" /><Relationship Type="http://schemas.openxmlformats.org/officeDocument/2006/relationships/slide" Target="/ppt/slides/slide1.xml" Id="R6f8842ca72904556" /><Relationship Type="http://schemas.openxmlformats.org/officeDocument/2006/relationships/slide" Target="/ppt/slides/slide2.xml" Id="R8969ada20f5a4e53" /><Relationship Type="http://schemas.openxmlformats.org/officeDocument/2006/relationships/slide" Target="/ppt/slides/slide3.xml" Id="R2b2a8bdc2374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1a291ba97954f2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bc8ea4a5c04864" /><Relationship Type="http://schemas.openxmlformats.org/officeDocument/2006/relationships/notesMaster" Target="/ppt/notesMasters/notesMaster1.xml" Id="R560396b98292440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d869ea8eec4e3c" /><Relationship Type="http://schemas.openxmlformats.org/officeDocument/2006/relationships/notesMaster" Target="/ppt/notesMasters/notesMaster1.xml" Id="R011839b45bec4e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cb56791f1244d2" /><Relationship Type="http://schemas.openxmlformats.org/officeDocument/2006/relationships/notesMaster" Target="/ppt/notesMasters/notesMaster1.xml" Id="Rbe036465841545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Wave 5 Exact Proof Matrix and local task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bundled local asset file-presentation.png.</a:t>
            </a:r>
          </a:p>
          <a:p xmlns:a="http://schemas.openxmlformats.org/drawingml/2006/main">
            <a:r>
              <a:t>Source: Wave 5 Exact Proof Matrix.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Wave 5 Exact Proof Matrix and local task facts.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db9709bdbf43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335a1d0bd48e0" /><Relationship Type="http://schemas.openxmlformats.org/officeDocument/2006/relationships/slideLayout" Target="/ppt/slideLayouts/slideLayout1.xml" Id="Rb6adfbe0fb084d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adfbe0fb084d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a3c4d5b2f48b9" /><Relationship Type="http://schemas.openxmlformats.org/officeDocument/2006/relationships/notesSlide" Target="/ppt/notesSlides/notesSlide1.xml" Id="R9f08815db0a447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a8a38099f4759" /><Relationship Type="http://schemas.openxmlformats.org/officeDocument/2006/relationships/image" Target="/ppt/media/image.png" Id="R46cf4c6cee7a447a" /><Relationship Type="http://schemas.openxmlformats.org/officeDocument/2006/relationships/notesSlide" Target="/ppt/notesSlides/notesSlide2.xml" Id="R56ac3c20e1b540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322646d7546fd" /><Relationship Type="http://schemas.openxmlformats.org/officeDocument/2006/relationships/notesSlide" Target="/ppt/notesSlides/notesSlide3.xml" Id="R6f030f47a9d04e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F1E16-C87B-4CA0-BBBF-BC74B91B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86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134"/>
                </a:solidFill>
              </a:defRPr>
            </a:pPr>
            <a:r>
              <a:rPr sz="1200" b="1">
                <a:solidFill>
                  <a:srgbClr val="F2B134"/>
                </a:solidFill>
              </a:rPr>
              <a:t>TRIO V2 | WAVE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E0A7D8-CF69-439E-A7E9-B3237680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Office capability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ABAF6-BB94-4A01-82B3-A085B29A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336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8C7D9"/>
                </a:solidFill>
              </a:defRPr>
            </a:pPr>
            <a:r>
              <a:rPr sz="1800">
                <a:solidFill>
                  <a:srgbClr val="B8C7D9"/>
                </a:solidFill>
              </a:rPr>
              <a:t>Source-backed artifacts with visible proof surfaces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92956-2C86-4554-815A-AF48625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95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1CB18-0EA1-4D60-91C5-EF2E2558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</a:defRPr>
            </a:pPr>
            <a:r>
              <a:rPr sz="1800">
                <a:solidFill>
                  <a:srgbClr val="FFFFFF"/>
                </a:solidFill>
              </a:rPr>
              <a:t>Candidate ready for independent open, render, formula, citation, and accessibility review.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EE60E-B3AA-47C7-A939-890C4618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Local task facts | no external research</a:t>
            </a:r>
          </a:p>
        </p:txBody>
      </p:sp>
    </p:spTree>
    <p:extLst>
      <p:ext uri="{BB962C8B-B14F-4D97-AF65-F5344CB8AC3E}">
        <p14:creationId xmlns:p14="http://schemas.microsoft.com/office/powerpoint/2010/main" val="11501433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1BE601-239C-465D-AB12-DDF2A202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E74B5"/>
                </a:solidFill>
              </a:defRPr>
            </a:pPr>
            <a:r>
              <a:rPr sz="1200" b="1">
                <a:solidFill>
                  <a:srgbClr val="2E74B5"/>
                </a:solidFill>
              </a:rPr>
              <a:t>WHAT IS PROVEN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88766-F757-4337-8610-95A4DC96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676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33"/>
                </a:solidFill>
              </a:defRPr>
            </a:pPr>
            <a:r>
              <a:rPr sz="2850" b="1">
                <a:solidFill>
                  <a:srgbClr val="071A33"/>
                </a:solidFill>
              </a:rPr>
              <a:t>Four routes, one quality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A1134-A28F-43F1-A3F1-7BED4CBB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ACF54-728B-46FD-88A8-918F82E8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Documents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AF5390-C421-46A3-84F5-DDFDE727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193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Searchable brief + source marker + page render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A1F4A-7842-4920-8340-5842EEF3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95435-5135-4E55-AA53-D5F22F8F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Spreadsheets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69C76-B8F9-4B60-A5D7-52BA0A343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622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Typed inputs + auditable formulas + readable sheet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10B813-61B5-4F95-A1EB-AEE3426F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8615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6C60C-24A6-4FA1-B3FA-3885F226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Presentations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85CB9F-39D9-451B-9459-1D8C0225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Audience titles + asset alt text + source note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D4FD3-FA18-4B20-AB99-1D8AE1E1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134"/>
          </a:solidFill>
          <a:ln xmlns:a="http://schemas.openxmlformats.org/drawingml/2006/main" w="0">
            <a:solidFill>
              <a:srgbClr val="F2B1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B0DF1-6765-464E-833F-8DBF4DBE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71A33"/>
                </a:solidFill>
              </a:defRPr>
            </a:pPr>
            <a:r>
              <a:rPr sz="1800" b="1">
                <a:solidFill>
                  <a:srgbClr val="071A33"/>
                </a:solidFill>
              </a:rPr>
              <a:t>PDF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BCE4E2-8D64-404B-8F43-F9F9536D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4495E"/>
                </a:solidFill>
              </a:defRPr>
            </a:pPr>
            <a:r>
              <a:rPr sz="1350">
                <a:solidFill>
                  <a:srgbClr val="34495E"/>
                </a:solidFill>
              </a:rPr>
              <a:t>Searchable citation/accessibility markers + page render</a:t>
            </a:r>
          </a:p>
        </p:txBody>
      </p:sp>
      <p:pic>
        <p:nvPicPr>
          <p:cNvPr id="32" name="" descr="Trio v2 office capability status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cf4c6cee7a447a"/>
          <a:stretch xmlns:a="http://schemas.openxmlformats.org/drawingml/2006/main"/>
        </p:blipFill>
        <p:spPr>
          <a:xfrm xmlns:a="http://schemas.openxmlformats.org/drawingml/2006/main">
            <a:off x="9429750" y="17335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D5393B-5A51-4B0F-9165-1553D585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43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6B7A"/>
                </a:solidFill>
              </a:defRPr>
            </a:pPr>
            <a:r>
              <a:rPr sz="1200">
                <a:solidFill>
                  <a:srgbClr val="5B6B7A"/>
                </a:solidFill>
              </a:rPr>
              <a:t>Source: bundled local asset file-presentation.png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670965-07AB-41A5-9597-D977155E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55A11"/>
                </a:solidFill>
              </a:defRPr>
            </a:pPr>
            <a:r>
              <a:rPr sz="1200" b="1">
                <a:solidFill>
                  <a:srgbClr val="C55A11"/>
                </a:solidFill>
              </a:rPr>
              <a:t>Artifact generation alone is not completion.</a:t>
            </a:r>
          </a:p>
        </p:txBody>
      </p:sp>
    </p:spTree>
    <p:extLst>
      <p:ext uri="{BB962C8B-B14F-4D97-AF65-F5344CB8AC3E}">
        <p14:creationId xmlns:p14="http://schemas.microsoft.com/office/powerpoint/2010/main" val="16103876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A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8DB9E-6CEB-46C1-84AE-738D9822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B134"/>
                </a:solidFill>
              </a:defRPr>
            </a:pPr>
            <a:r>
              <a:rPr sz="1200" b="1">
                <a:solidFill>
                  <a:srgbClr val="F2B134"/>
                </a:solidFill>
              </a:rPr>
              <a:t>REVIEW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EB3D8-74C3-4B1A-A859-2FBE5C3B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Ready for independent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88E6E-4673-4575-B7B7-F1D4E756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134"/>
                </a:solidFill>
              </a:defRPr>
            </a:pPr>
            <a:r>
              <a:rPr sz="1500" b="1">
                <a:solidFill>
                  <a:srgbClr val="F2B134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83971-CD4A-4CBE-ADB6-6534C93C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336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Open or parse every native office format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B65D5-6C79-4011-94B6-4F16C4EF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134"/>
                </a:solidFill>
              </a:defRPr>
            </a:pPr>
            <a:r>
              <a:rPr sz="1500" b="1">
                <a:solidFill>
                  <a:srgbClr val="F2B134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F3A8F-7077-4ED9-AD29-40E4EA3A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384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Render every page, slide, and relevant sheet range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EA1ADC-4DD2-491F-8995-710B83C5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134"/>
                </a:solidFill>
              </a:defRPr>
            </a:pPr>
            <a:r>
              <a:rPr sz="1500" b="1">
                <a:solidFill>
                  <a:srgbClr val="F2B134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D377D-FEC3-4CAA-B333-9A282AF2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Inspect formula, citation, content, and accessibility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3BB5E-3D89-4C57-908E-7666E609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2B134"/>
                </a:solidFill>
              </a:defRPr>
            </a:pPr>
            <a:r>
              <a:rPr sz="1500" b="1">
                <a:solidFill>
                  <a:srgbClr val="F2B134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E989A-3305-44EE-A706-F05410BB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481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FFFFF"/>
                </a:solidFill>
              </a:defRPr>
            </a:pPr>
            <a:r>
              <a:rPr sz="1650">
                <a:solidFill>
                  <a:srgbClr val="FFFFFF"/>
                </a:solidFill>
              </a:rPr>
              <a:t>Keep external send or publish behind Host and human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5D5A6-8A00-4C7F-898A-7A61DBA0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960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8C7D9"/>
                </a:solidFill>
              </a:defRPr>
            </a:pPr>
            <a:r>
              <a:rPr sz="1200">
                <a:solidFill>
                  <a:srgbClr val="B8C7D9"/>
                </a:solidFill>
              </a:rPr>
              <a:t>Chief acceptance and Trio writeback remain separate from worker completion.</a:t>
            </a:r>
          </a:p>
        </p:txBody>
      </p:sp>
    </p:spTree>
    <p:extLst>
      <p:ext uri="{BB962C8B-B14F-4D97-AF65-F5344CB8AC3E}">
        <p14:creationId xmlns:p14="http://schemas.microsoft.com/office/powerpoint/2010/main" val="634650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2026-08-03T04:09:52.6500000Z</dcterms:created>
  <dcterms:modified xsi:type="dcterms:W3CDTF">2026-08-03T04:09:52.6500000Z</dcterms:modified>
</coreProperties>
</file>